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214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1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A8-4E8F-BCF4-3343482687DA}"/>
              </c:ext>
            </c:extLst>
          </c:dPt>
          <c:dPt>
            <c:idx val="1"/>
            <c:invertIfNegative val="0"/>
            <c:bubble3D val="0"/>
            <c:spPr>
              <a:solidFill>
                <a:srgbClr val="0021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A8-4E8F-BCF4-3343482687DA}"/>
              </c:ext>
            </c:extLst>
          </c:dPt>
          <c:dPt>
            <c:idx val="2"/>
            <c:invertIfNegative val="0"/>
            <c:bubble3D val="0"/>
            <c:spPr>
              <a:solidFill>
                <a:srgbClr val="E019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A8-4E8F-BCF4-3343482687DA}"/>
              </c:ext>
            </c:extLst>
          </c:dPt>
          <c:dPt>
            <c:idx val="3"/>
            <c:invertIfNegative val="0"/>
            <c:bubble3D val="0"/>
            <c:spPr>
              <a:solidFill>
                <a:srgbClr val="0021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A8-4E8F-BCF4-3343482687DA}"/>
              </c:ext>
            </c:extLst>
          </c:dPt>
          <c:dPt>
            <c:idx val="4"/>
            <c:invertIfNegative val="0"/>
            <c:bubble3D val="0"/>
            <c:spPr>
              <a:solidFill>
                <a:srgbClr val="0021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A8-4E8F-BCF4-3343482687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0.76080000000000003</c:v>
                </c:pt>
                <c:pt idx="1">
                  <c:v>0.7631</c:v>
                </c:pt>
                <c:pt idx="2">
                  <c:v>0.76370000000000005</c:v>
                </c:pt>
                <c:pt idx="3">
                  <c:v>0.7621</c:v>
                </c:pt>
                <c:pt idx="4">
                  <c:v>0.75849999999999995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1A8-4E8F-BCF4-3343482687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438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377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0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Behaviour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— Random Forest Classifier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3931920"/>
            <a:ext cx="7772400" cy="0"/>
          </a:xfrm>
          <a:prstGeom prst="line">
            <a:avLst/>
          </a:prstGeom>
          <a:noFill/>
          <a:ln w="19050">
            <a:solidFill>
              <a:srgbClr val="E01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160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Data Science Team  |  Heathrow Terminal 3  |  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526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Job Simulation — Task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Buying Behaviour — Model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50976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 |  Data Science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1031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2103120" cy="64008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49,281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" y="1719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" y="1901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32888" y="1097280"/>
            <a:ext cx="21031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1097280"/>
            <a:ext cx="2103120" cy="64008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32888" y="1719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32888" y="1901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37176" y="1097280"/>
            <a:ext cx="21031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37176" y="1097280"/>
            <a:ext cx="2103120" cy="64008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37176" y="1719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37176" y="1901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±0.002  stable model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41464" y="1097280"/>
            <a:ext cx="21031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41464" y="1097280"/>
            <a:ext cx="2103120" cy="64008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41464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1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41464" y="1719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(Booked)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41464" y="1901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bookers found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445752" y="1097280"/>
            <a:ext cx="21031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45752" y="1097280"/>
            <a:ext cx="2103120" cy="64008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45752" y="11887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445752" y="1719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45752" y="19019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booked vs booked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" y="2304288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144768" y="230428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144768" y="2633472"/>
            <a:ext cx="576072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144768" y="2633472"/>
            <a:ext cx="54864" cy="896112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91072" y="2688336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Booking Origin Dominates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291072" y="290779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booking_origin is the single strongest predictor (36.8% importance). Where a customer books from reflects cultural buying behaviour and purchase intent — BA should tailor regional marketing strategies accordingly.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6144768" y="3602736"/>
            <a:ext cx="576072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44768" y="3602736"/>
            <a:ext cx="54864" cy="896112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365760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Route &amp; Stay Length Matter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291072" y="387705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(14.2%) and length_of_stay (10.8%) are the 2nd and 3rd most predictive features. Customers on specific routes planning longer stays show significantly higher booking completion rates.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6144768" y="4572000"/>
            <a:ext cx="576072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144768" y="4572000"/>
            <a:ext cx="54864" cy="896112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91072" y="462686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Add-Ons Are Weak Signals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291072" y="48463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wants_extra_baggage, meals, and preferred_seat all score below 3%. Customers frequently add extras while browsing without completing the booking — these should not be used as primary targeting signals.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6144768" y="5541264"/>
            <a:ext cx="576072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144768" y="5541264"/>
            <a:ext cx="54864" cy="896112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291072" y="559612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Business Recommendation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291072" y="581558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this model to score inbound web traffic by booking_origin + route. Customers with a high predicted probability should receive priority remarketing, dynamic pricing nudges, or targeted email campaigns before they abandon.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82880" y="66294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 |  Data Science Job Simulation  |  Random Forest Classifier  |  ROC-AUC: 0.763  |  CV: 0.762 ±0.002</a:t>
            </a:r>
            <a:endParaRPr lang="en-US" sz="750" dirty="0"/>
          </a:p>
        </p:txBody>
      </p:sp>
      <p:pic>
        <p:nvPicPr>
          <p:cNvPr id="53" name="Picture 52" descr="A graph with red and blue bars&#10;&#10;AI-generated content may be incorrect.">
            <a:extLst>
              <a:ext uri="{FF2B5EF4-FFF2-40B4-BE49-F238E27FC236}">
                <a16:creationId xmlns:a16="http://schemas.microsoft.com/office/drawing/2014/main" id="{B00B4814-E321-2740-D901-879488872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11" y="2579126"/>
            <a:ext cx="5510439" cy="39395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01937"/>
          </a:solidFill>
          <a:ln w="12700">
            <a:solidFill>
              <a:srgbClr val="E01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Methodology &amp; Evaluation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365760" cy="365760"/>
          </a:xfrm>
          <a:prstGeom prst="ellipse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5453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7465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719 duplicate rows from 50,000. Zero null values confirmed across all 14 columns.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365760" cy="365760"/>
          </a:xfrm>
          <a:prstGeom prst="ellipse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350008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255117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total_add_ons (sum of baggage + seat + meals) as a new engagement signal feature.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365760" cy="365760"/>
          </a:xfrm>
          <a:prstGeom prst="ellipse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63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154680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33558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5 categorical columns: sales_channel, trip_type, flight_day, route, booking_origin.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365760" cy="365760"/>
          </a:xfrm>
          <a:prstGeom prst="ellipse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95935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41605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class_weight='balanced' in Random Forest to address the severe 85/15 booking split.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74320" y="4773168"/>
            <a:ext cx="365760" cy="365760"/>
          </a:xfrm>
          <a:prstGeom prst="ellipse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773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7640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49651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(39,424 train / 9,857 test). Stratification preserves class ratio in both sets.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74320" y="5577840"/>
            <a:ext cx="365760" cy="365760"/>
          </a:xfrm>
          <a:prstGeom prst="ellipse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5577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" y="556869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" y="57698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(5-fold). Mean ROC-AUC = 0.7616 ± 0.0018. Near-zero variance confirms stability.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1508760"/>
            <a:ext cx="56692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9360" y="1517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15179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1920240"/>
            <a:ext cx="56692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192938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21040" y="19293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2331720"/>
            <a:ext cx="56692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09360" y="23408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21040" y="23408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(prevents overfitting)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2743200"/>
            <a:ext cx="56692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09360" y="27523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21040" y="27523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 (handles 85/15 split)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0" y="3154680"/>
            <a:ext cx="56692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09360" y="31638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321040" y="3163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(reproducible results)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17920" y="3566160"/>
            <a:ext cx="566928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309360" y="35753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2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321040" y="35753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 stratified split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17920" y="41148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ROC-AUC (5 Folds)</a:t>
            </a:r>
            <a:endParaRPr lang="en-US" sz="1200" dirty="0"/>
          </a:p>
        </p:txBody>
      </p:sp>
      <p:graphicFrame>
        <p:nvGraphicFramePr>
          <p:cNvPr id="50" name="Chart 0"/>
          <p:cNvGraphicFramePr/>
          <p:nvPr/>
        </p:nvGraphicFramePr>
        <p:xfrm>
          <a:off x="6217920" y="4434840"/>
          <a:ext cx="56692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Shape 4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82880" y="6629400"/>
            <a:ext cx="1188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 |  Data Science Job Simulation  |  Random Forest Classifier  |  ROC-AUC: 0.763  |  CV: 0.762 ±0.002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483</Words>
  <Application>Microsoft Office PowerPoint</Application>
  <PresentationFormat>Widescreen</PresentationFormat>
  <Paragraphs>71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 Booking Prediction Model</dc:title>
  <dc:subject>PptxGenJS Presentation</dc:subject>
  <dc:creator>PptxGenJS</dc:creator>
  <cp:lastModifiedBy>Manjunath</cp:lastModifiedBy>
  <cp:revision>2</cp:revision>
  <dcterms:created xsi:type="dcterms:W3CDTF">2026-04-18T05:19:48Z</dcterms:created>
  <dcterms:modified xsi:type="dcterms:W3CDTF">2026-04-18T05:24:50Z</dcterms:modified>
</cp:coreProperties>
</file>